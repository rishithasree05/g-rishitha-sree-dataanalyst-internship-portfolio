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478"/>
                </a:solidFill>
                <a:latin typeface="Calibri"/>
              </a:rPr>
              <a:t>Category Sales Index (Illustrative)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Performance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Home &amp; Living</c:v>
                  </c:pt>
                  <c:pt idx="2">
                    <c:v>Groceries</c:v>
                  </c:pt>
                  <c:pt idx="3">
                    <c:v>Fashion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68</c:v>
                </c:pt>
                <c:pt idx="2">
                  <c:v>55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511</c:v>
                </c:pt>
                <c:pt idx="1">
                  <c:v>489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Trend</c:v>
                </c:pt>
              </c:strCache>
            </c:strRef>
          </c:tx>
          <c:spPr>
            <a:solidFill>
              <a:srgbClr val="F96167"/>
            </a:solidFill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70</c:v>
                </c:pt>
                <c:pt idx="2">
                  <c:v>66</c:v>
                </c:pt>
                <c:pt idx="3">
                  <c:v>78</c:v>
                </c:pt>
                <c:pt idx="4">
                  <c:v>84</c:v>
                </c:pt>
                <c:pt idx="5">
                  <c:v>80</c:v>
                </c:pt>
                <c:pt idx="6">
                  <c:v>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2396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548640"/>
            <a:ext cx="54864" cy="54864"/>
          </a:xfrm>
          <a:prstGeom prst="ellipse">
            <a:avLst/>
          </a:prstGeom>
          <a:solidFill>
            <a:srgbClr val="CADCFC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18388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2396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6404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86868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2396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46404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0" y="118872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8388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82396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46404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0" y="150876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8388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82396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46404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784080" y="1828800"/>
            <a:ext cx="54864" cy="5486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DATA STORYTELLING &amp; STATISTICAL VALIDATION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26974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Sales Data to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4600" dirty="0"/>
          </a:p>
        </p:txBody>
      </p:sp>
      <p:sp>
        <p:nvSpPr>
          <p:cNvPr id="39" name="Shape 37"/>
          <p:cNvSpPr/>
          <p:nvPr/>
        </p:nvSpPr>
        <p:spPr>
          <a:xfrm>
            <a:off x="640080" y="480060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Rishitha Sree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Analytics Intern   |   Final Deliverable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621792" cy="621792"/>
          </a:xfrm>
          <a:prstGeom prst="ellipse">
            <a:avLst/>
          </a:prstGeom>
          <a:solidFill>
            <a:srgbClr val="E9F0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8196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Immersion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missing values treatment, date standardization, and feature engineering using Python &amp; Pandas.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825496"/>
            <a:ext cx="1088136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53512"/>
            <a:ext cx="621792" cy="621792"/>
          </a:xfrm>
          <a:prstGeom prst="ellipse">
            <a:avLst/>
          </a:prstGeom>
          <a:solidFill>
            <a:srgbClr val="E9F0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535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898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461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aggregations, regional analysis, and demographic segment analysis.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904488"/>
            <a:ext cx="1088136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032504"/>
            <a:ext cx="621792" cy="621792"/>
          </a:xfrm>
          <a:prstGeom prst="ellipse">
            <a:avLst/>
          </a:prstGeom>
          <a:solidFill>
            <a:srgbClr val="E9F0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3250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2511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 tracking and multidimensional sales performance visualization.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1088136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5111496"/>
            <a:ext cx="621792" cy="6217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1114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50566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Storytelling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404104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hypothesis, validate an empirical finding, and translate evidence into business action.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Trying to Understand?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9F0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67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drive the most revenue and which underperform?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9F0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67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Hubs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2240" y="29535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city markets demonstrate the strongest purchasing performance?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9F0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407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828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Patterns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51937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gender and age patterns emerge from transaction histories?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9F0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407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4828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2240" y="51937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observed difference in customer-segment spending be statistically validated before execution?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1089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139.40M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4251960"/>
            <a:ext cx="1353312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389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98064" y="228600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31089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163824" y="4251960"/>
            <a:ext cx="1353312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4389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47488" y="228600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31089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139.40K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13248" y="4251960"/>
            <a:ext cx="1353312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4389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96912" y="228600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1089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5K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662672" y="4251960"/>
            <a:ext cx="1353312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4072" y="4389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46336" y="228600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310896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41.36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912096" y="4251960"/>
            <a:ext cx="1353312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3496" y="438912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Category Performance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87452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E9F0FF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0" y="2011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PERFORMER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32320" y="2286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32320" y="2816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revenue-generating category overall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0" y="352044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DEDE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3657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PERFORMER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32320" y="4462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strategic review of assortment and pricing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0" y="5120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Drivers:  Category performance guides inventory allocation, promotional budgets, and marketing focus.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Markets Drive Sales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Patna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sales-generating city overall — the leading market.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LEADING MARKET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E9F0FF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Kolkata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34290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hub with consistently strong performance.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192024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E9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26974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342900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out the top three leading markets nationally.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Strong-performing cities represent core opportunities for regional marketing expansion and localized inventory planning.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TIME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Time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9F0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BASELINE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2651760"/>
          <a:ext cx="2103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8463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 provides an initial customer-segmentation perspective; behavioral differences should be statistically validated before drawing strong conclusions.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0" y="196596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VARIATION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651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trends reveal period-over-period variation.</a:t>
            </a:r>
            <a:endParaRPr lang="en-US" sz="13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217920" y="3337560"/>
          <a:ext cx="51206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6263640" y="53035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 Temporal tracking supports campaign timing, inventory replenishment, and staffing decisions.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Is Telling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671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Focus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strongest sales category, while Fashion requires strategic review.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9F0F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1671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Hubs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and other leading cities represent important target markets.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074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5257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 useful for segmentation, but purchasing differences require validation.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9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4074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2240" y="5257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patterns support campaign and supply planning.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Business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9F0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average Total_Sales significantly different between male and female customers?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(H₀)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statistically significant difference in average Total_Sales.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male = μ female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301752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E9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HYPOTHESIS (H₁)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36118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statistically significant difference in average Total_Sales.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4251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male ≠ μ female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Selected: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Independent Two-Sample t-test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(95% Confidence Level)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Results &amp; Parameters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400800" cy="173736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Total Sales (x̄)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$141,807.34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$136,883.21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92024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E9F0FF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980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0.6826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32688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0.495011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7498080" y="3063240"/>
            <a:ext cx="370332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3200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male = 511   |   n female = 489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DECISION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45262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p-value = 0.495011 &gt; 0.05  →  Fail to Reject H₀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Decision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9F0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82012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820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Finding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97680" y="2093976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insufficient statistical evidence to conclude that average Total_Sales differs significantly between male and female customers.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845052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50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Insight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97680" y="3557016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difference in average spending between male and female customers is not statistically significant. Gender alone should not drive major sales or marketing decisions.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9F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308092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080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Rule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97680" y="5020056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indicates an association or difference; it does not establish causation.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Business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21762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Strategy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743200"/>
            <a:ext cx="4608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high-performing categories such as Electronics for capital and promotional budgets.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1762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194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2743200"/>
            <a:ext cx="4608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and logistics infrastructure on high-performing markets such as Patna, Kolkata, and Bengaluru.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114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43708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89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" y="4937760"/>
            <a:ext cx="4608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monthly sales trends for campaign launch timing, inventory replenishment, and staffing.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7"/>
          </a:solidFill>
          <a:ln w="12700">
            <a:solidFill>
              <a:srgbClr val="3A44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43708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389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Insight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4937760"/>
            <a:ext cx="4608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spending gap between genders is not statistically significant — gender alone should not drive major sales or marketing decisions.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2026-08-15T13:13:45Z</dcterms:created>
  <dcterms:modified xsi:type="dcterms:W3CDTF">2026-08-15T13:13:45Z</dcterms:modified>
</cp:coreProperties>
</file>